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3" r:id="rId2"/>
    <p:sldId id="257" r:id="rId3"/>
    <p:sldId id="258" r:id="rId4"/>
    <p:sldId id="268" r:id="rId5"/>
    <p:sldId id="264" r:id="rId6"/>
    <p:sldId id="259" r:id="rId7"/>
    <p:sldId id="266" r:id="rId8"/>
    <p:sldId id="260" r:id="rId9"/>
    <p:sldId id="272" r:id="rId10"/>
    <p:sldId id="274" r:id="rId11"/>
    <p:sldId id="261" r:id="rId12"/>
    <p:sldId id="271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asch\Downloads\DA_Projekt_Protokol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1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de-AT"/>
              <a:t>Zeitaufwand / Sascha</a:t>
            </a:r>
            <a:r>
              <a:rPr lang="de-AT" baseline="0"/>
              <a:t> Berger</a:t>
            </a:r>
            <a:endParaRPr lang="de-AT"/>
          </a:p>
        </c:rich>
      </c:tx>
      <c:layout>
        <c:manualLayout>
          <c:xMode val="edge"/>
          <c:yMode val="edge"/>
          <c:x val="0.3419164273152504"/>
          <c:y val="5.2326387677493633E-2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3229722806032849E-2"/>
          <c:y val="0.18750000000000006"/>
          <c:w val="0.91124922598616798"/>
          <c:h val="0.704440175487562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Wochenstunden!$D$10</c:f>
              <c:strCache>
                <c:ptCount val="1"/>
                <c:pt idx="0">
                  <c:v>Arbeitszeit:</c:v>
                </c:pt>
              </c:strCache>
            </c:strRef>
          </c:tx>
          <c:spPr>
            <a:solidFill>
              <a:srgbClr val="4F81BD"/>
            </a:solidFill>
            <a:ln w="25400">
              <a:noFill/>
            </a:ln>
          </c:spPr>
          <c:invertIfNegative val="0"/>
          <c:cat>
            <c:strRef>
              <c:f>Wochenstunden!$C$10:$C$62</c:f>
              <c:strCache>
                <c:ptCount val="53"/>
                <c:pt idx="0">
                  <c:v>Woche: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  <c:pt idx="6">
                  <c:v>21</c:v>
                </c:pt>
                <c:pt idx="7">
                  <c:v>22</c:v>
                </c:pt>
                <c:pt idx="8">
                  <c:v>23</c:v>
                </c:pt>
                <c:pt idx="9">
                  <c:v>24</c:v>
                </c:pt>
                <c:pt idx="10">
                  <c:v>25</c:v>
                </c:pt>
                <c:pt idx="11">
                  <c:v>26</c:v>
                </c:pt>
                <c:pt idx="12">
                  <c:v>27</c:v>
                </c:pt>
                <c:pt idx="13">
                  <c:v>28</c:v>
                </c:pt>
                <c:pt idx="14">
                  <c:v>29</c:v>
                </c:pt>
                <c:pt idx="15">
                  <c:v>30</c:v>
                </c:pt>
                <c:pt idx="16">
                  <c:v>31</c:v>
                </c:pt>
                <c:pt idx="17">
                  <c:v>32</c:v>
                </c:pt>
                <c:pt idx="18">
                  <c:v>33</c:v>
                </c:pt>
                <c:pt idx="19">
                  <c:v>34</c:v>
                </c:pt>
                <c:pt idx="20">
                  <c:v>35</c:v>
                </c:pt>
                <c:pt idx="21">
                  <c:v>36</c:v>
                </c:pt>
                <c:pt idx="22">
                  <c:v>37</c:v>
                </c:pt>
                <c:pt idx="23">
                  <c:v>38</c:v>
                </c:pt>
                <c:pt idx="24">
                  <c:v>39</c:v>
                </c:pt>
                <c:pt idx="25">
                  <c:v>40</c:v>
                </c:pt>
                <c:pt idx="26">
                  <c:v>41</c:v>
                </c:pt>
                <c:pt idx="27">
                  <c:v>42</c:v>
                </c:pt>
                <c:pt idx="28">
                  <c:v>43</c:v>
                </c:pt>
                <c:pt idx="29">
                  <c:v>44</c:v>
                </c:pt>
                <c:pt idx="30">
                  <c:v>45</c:v>
                </c:pt>
                <c:pt idx="31">
                  <c:v>46</c:v>
                </c:pt>
                <c:pt idx="32">
                  <c:v>47</c:v>
                </c:pt>
                <c:pt idx="33">
                  <c:v>48</c:v>
                </c:pt>
                <c:pt idx="34">
                  <c:v>49</c:v>
                </c:pt>
                <c:pt idx="35">
                  <c:v>50</c:v>
                </c:pt>
                <c:pt idx="36">
                  <c:v>51</c:v>
                </c:pt>
                <c:pt idx="37">
                  <c:v>52</c:v>
                </c:pt>
                <c:pt idx="38">
                  <c:v>1</c:v>
                </c:pt>
                <c:pt idx="39">
                  <c:v>2</c:v>
                </c:pt>
                <c:pt idx="40">
                  <c:v>3</c:v>
                </c:pt>
                <c:pt idx="41">
                  <c:v>4</c:v>
                </c:pt>
                <c:pt idx="42">
                  <c:v>5</c:v>
                </c:pt>
                <c:pt idx="43">
                  <c:v>6</c:v>
                </c:pt>
                <c:pt idx="44">
                  <c:v>7</c:v>
                </c:pt>
                <c:pt idx="45">
                  <c:v>8</c:v>
                </c:pt>
                <c:pt idx="46">
                  <c:v>9</c:v>
                </c:pt>
                <c:pt idx="47">
                  <c:v>10</c:v>
                </c:pt>
                <c:pt idx="48">
                  <c:v>11</c:v>
                </c:pt>
                <c:pt idx="49">
                  <c:v>12</c:v>
                </c:pt>
                <c:pt idx="50">
                  <c:v>13</c:v>
                </c:pt>
                <c:pt idx="51">
                  <c:v>14</c:v>
                </c:pt>
                <c:pt idx="52">
                  <c:v>15</c:v>
                </c:pt>
              </c:strCache>
            </c:strRef>
          </c:cat>
          <c:val>
            <c:numRef>
              <c:f>Wochenstunden!$D$10:$D$62</c:f>
              <c:numCache>
                <c:formatCode>0.00</c:formatCode>
                <c:ptCount val="53"/>
                <c:pt idx="0" formatCode="General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3.416666666666667</c:v>
                </c:pt>
                <c:pt idx="4">
                  <c:v>3.416666666666667</c:v>
                </c:pt>
                <c:pt idx="5">
                  <c:v>0</c:v>
                </c:pt>
                <c:pt idx="6">
                  <c:v>3.416666666666667</c:v>
                </c:pt>
                <c:pt idx="7">
                  <c:v>0</c:v>
                </c:pt>
                <c:pt idx="8">
                  <c:v>3.416666666666667</c:v>
                </c:pt>
                <c:pt idx="9">
                  <c:v>3.416666666666667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1.75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4.166666666666667</c:v>
                </c:pt>
                <c:pt idx="23">
                  <c:v>5.4999999999999991</c:v>
                </c:pt>
                <c:pt idx="24">
                  <c:v>5.25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7C-4859-85FB-FA7737C83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3007872"/>
        <c:axId val="93009792"/>
      </c:barChart>
      <c:catAx>
        <c:axId val="93007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de-AT"/>
                  <a:t>Kalenderwochen 2025 / 2026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3175">
            <a:solidFill>
              <a:srgbClr val="80808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de-DE"/>
          </a:p>
        </c:txPr>
        <c:crossAx val="93009792"/>
        <c:crosses val="autoZero"/>
        <c:auto val="1"/>
        <c:lblAlgn val="ctr"/>
        <c:lblOffset val="100"/>
        <c:tickLblSkip val="2"/>
        <c:tickMarkSkip val="1"/>
        <c:noMultiLvlLbl val="0"/>
      </c:catAx>
      <c:valAx>
        <c:axId val="93009792"/>
        <c:scaling>
          <c:orientation val="minMax"/>
        </c:scaling>
        <c:delete val="0"/>
        <c:axPos val="l"/>
        <c:majorGridlines>
          <c:spPr>
            <a:ln w="3175">
              <a:solidFill>
                <a:srgbClr val="80808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de-AT"/>
                  <a:t>Zeit</a:t>
                </a:r>
                <a:r>
                  <a:rPr lang="de-AT" baseline="0"/>
                  <a:t> [h]</a:t>
                </a:r>
                <a:endParaRPr lang="de-AT"/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3175">
            <a:solidFill>
              <a:srgbClr val="80808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de-DE"/>
          </a:p>
        </c:txPr>
        <c:crossAx val="93007872"/>
        <c:crosses val="autoZero"/>
        <c:crossBetween val="between"/>
      </c:valAx>
      <c:spPr>
        <a:solidFill>
          <a:srgbClr val="FFFFFF"/>
        </a:solidFill>
        <a:ln w="25400">
          <a:noFill/>
        </a:ln>
      </c:spPr>
    </c:plotArea>
    <c:plotVisOnly val="0"/>
    <c:dispBlanksAs val="gap"/>
    <c:showDLblsOverMax val="0"/>
  </c:chart>
  <c:spPr>
    <a:solidFill>
      <a:srgbClr val="FFFFFF"/>
    </a:solidFill>
    <a:ln w="3175">
      <a:solidFill>
        <a:srgbClr val="808080"/>
      </a:solidFill>
      <a:prstDash val="solid"/>
    </a:ln>
  </c:spPr>
  <c:txPr>
    <a:bodyPr/>
    <a:lstStyle/>
    <a:p>
      <a:pPr>
        <a:defRPr sz="11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de-DE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066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438C3-59DB-C1FE-4BC2-A571CD66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9015E-425A-219D-FE22-9551C5B0FE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B21D3-81CF-A7CB-FC30-9128839EF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99099-3C81-A442-6587-2C640FC0B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16269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A991-3D39-C471-9431-44879A44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2979C-C35C-3712-B3E2-13AEE7387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B7A81-0474-420B-7CB2-A9972FC3C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4D262-54D0-7E18-3BF6-05CE5188C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65081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72290-EE98-C8DA-D178-060AA5D82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8B650B-9258-9333-A6FF-37EAFA23DF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42FEC-4DF1-0112-87EB-D72292518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71251-A1B6-A194-B7E1-4CA9389D3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48432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4FD7751-E7ED-5036-6CD8-4117564ACEB6}"/>
              </a:ext>
            </a:extLst>
          </p:cNvPr>
          <p:cNvSpPr txBox="1"/>
          <p:nvPr/>
        </p:nvSpPr>
        <p:spPr>
          <a:xfrm>
            <a:off x="462116" y="285135"/>
            <a:ext cx="62336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>
                <a:solidFill>
                  <a:srgbClr val="2563EB"/>
                </a:solidFill>
                <a:latin typeface="Arial"/>
              </a:rPr>
              <a:t>KICK-OFF PRÄSENTATION | HTL DIPLOMARBEIT</a:t>
            </a:r>
          </a:p>
        </p:txBody>
      </p:sp>
      <p:pic>
        <p:nvPicPr>
          <p:cNvPr id="4" name="Grafik 3" descr="Gerald Zottl – Lehrer bei HTL-Hollabrunn | LinkedIn">
            <a:extLst>
              <a:ext uri="{FF2B5EF4-FFF2-40B4-BE49-F238E27FC236}">
                <a16:creationId xmlns:a16="http://schemas.microsoft.com/office/drawing/2014/main" id="{2CD4DF46-817A-2028-A927-CB70B1DB4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331" y="1396760"/>
            <a:ext cx="846399" cy="8463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4A861EA-5B93-C5FD-FC39-E590212212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750" b="16750"/>
          <a:stretch/>
        </p:blipFill>
        <p:spPr>
          <a:xfrm>
            <a:off x="6419370" y="3005800"/>
            <a:ext cx="846399" cy="8463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99DE869-EC07-282D-852E-41706A1D47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500" b="12500"/>
          <a:stretch/>
        </p:blipFill>
        <p:spPr>
          <a:xfrm>
            <a:off x="2512236" y="3005800"/>
            <a:ext cx="846399" cy="8463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rPr dirty="0"/>
              <a:t>KICK-OFF PRÄSENTATION | HTL DIPLOMARBEIT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77108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dirty="0" err="1"/>
              <a:t>Projektübersicht</a:t>
            </a:r>
            <a:r>
              <a:rPr dirty="0"/>
              <a:t>: Was </a:t>
            </a:r>
            <a:r>
              <a:rPr dirty="0" err="1"/>
              <a:t>ist</a:t>
            </a:r>
            <a:r>
              <a:rPr dirty="0"/>
              <a:t> ShareWay?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ctr">
              <a:spcAft>
                <a:spcPts val="1200"/>
              </a:spcAft>
              <a:defRPr sz="2000" b="1">
                <a:solidFill>
                  <a:srgbClr val="2563EB"/>
                </a:solidFill>
                <a:latin typeface="Georgia"/>
              </a:defRPr>
            </a:pPr>
            <a:r>
              <a:rPr sz="2000" dirty="0"/>
              <a:t>Ziel des </a:t>
            </a:r>
            <a:r>
              <a:rPr sz="2000" dirty="0" err="1"/>
              <a:t>Projekts</a:t>
            </a:r>
            <a:endParaRPr sz="2000" dirty="0"/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Einfache</a:t>
            </a:r>
            <a:r>
              <a:rPr sz="1400" dirty="0"/>
              <a:t> &amp; </a:t>
            </a:r>
            <a:r>
              <a:rPr sz="1400" dirty="0" err="1"/>
              <a:t>intelligente</a:t>
            </a:r>
            <a:r>
              <a:rPr sz="1400" dirty="0"/>
              <a:t> </a:t>
            </a:r>
            <a:r>
              <a:rPr sz="1400" dirty="0" err="1"/>
              <a:t>Vermittlung</a:t>
            </a:r>
            <a:r>
              <a:rPr sz="1400" dirty="0"/>
              <a:t> von </a:t>
            </a:r>
            <a:r>
              <a:rPr sz="1400" dirty="0" err="1"/>
              <a:t>Fahrgemeinschaften</a:t>
            </a:r>
            <a:endParaRPr sz="1400" dirty="0"/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Spürbare</a:t>
            </a:r>
            <a:r>
              <a:rPr sz="1400" dirty="0"/>
              <a:t> </a:t>
            </a:r>
            <a:r>
              <a:rPr sz="1400" dirty="0" err="1"/>
              <a:t>Senkung</a:t>
            </a:r>
            <a:r>
              <a:rPr sz="1400" dirty="0"/>
              <a:t> der </a:t>
            </a:r>
            <a:r>
              <a:rPr sz="1400" dirty="0" err="1"/>
              <a:t>Fahrtkosten</a:t>
            </a:r>
            <a:r>
              <a:rPr sz="1400" dirty="0"/>
              <a:t> für </a:t>
            </a:r>
            <a:r>
              <a:rPr sz="1400" dirty="0" err="1"/>
              <a:t>Pendler</a:t>
            </a:r>
            <a:r>
              <a:rPr sz="1400" dirty="0"/>
              <a:t> &amp; </a:t>
            </a:r>
            <a:r>
              <a:rPr sz="1400" dirty="0" err="1"/>
              <a:t>Studierende</a:t>
            </a:r>
            <a:endParaRPr sz="1400" dirty="0"/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Maximierung</a:t>
            </a:r>
            <a:r>
              <a:rPr sz="1400" dirty="0"/>
              <a:t> der Fahrzeugeffizienz &amp; CO2-Reduktion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Moderne, </a:t>
            </a:r>
            <a:r>
              <a:rPr sz="1400" dirty="0" err="1"/>
              <a:t>benutzerfreundliche</a:t>
            </a:r>
            <a:r>
              <a:rPr sz="1400" dirty="0"/>
              <a:t> Alternative </a:t>
            </a:r>
            <a:r>
              <a:rPr sz="1400" dirty="0" err="1"/>
              <a:t>zu</a:t>
            </a:r>
            <a:r>
              <a:rPr sz="1400" dirty="0"/>
              <a:t> </a:t>
            </a:r>
            <a:r>
              <a:rPr sz="1400" dirty="0" err="1"/>
              <a:t>bestehenden</a:t>
            </a:r>
            <a:r>
              <a:rPr sz="1400" dirty="0"/>
              <a:t> </a:t>
            </a:r>
            <a:r>
              <a:rPr sz="1400" dirty="0" err="1"/>
              <a:t>Plattformen</a:t>
            </a:r>
            <a:endParaRPr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4403750" y="164592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ctr">
              <a:spcAft>
                <a:spcPts val="12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rPr sz="2000" dirty="0" err="1"/>
              <a:t>Kernfunktionen</a:t>
            </a:r>
            <a:endParaRPr sz="2000" dirty="0"/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Fahrten</a:t>
            </a:r>
            <a:r>
              <a:rPr sz="1400" dirty="0"/>
              <a:t> </a:t>
            </a:r>
            <a:r>
              <a:rPr sz="1400" dirty="0" err="1"/>
              <a:t>einfach</a:t>
            </a:r>
            <a:r>
              <a:rPr sz="1400" dirty="0"/>
              <a:t> </a:t>
            </a:r>
            <a:r>
              <a:rPr sz="1400" dirty="0" err="1"/>
              <a:t>suchen</a:t>
            </a:r>
            <a:r>
              <a:rPr sz="1400" dirty="0"/>
              <a:t> &amp; </a:t>
            </a:r>
            <a:r>
              <a:rPr sz="1400" dirty="0" err="1"/>
              <a:t>flexibel</a:t>
            </a:r>
            <a:r>
              <a:rPr sz="1400" dirty="0"/>
              <a:t> </a:t>
            </a:r>
            <a:r>
              <a:rPr sz="1400" dirty="0" err="1"/>
              <a:t>inserieren</a:t>
            </a:r>
            <a:endParaRPr sz="1400" dirty="0"/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Dynamische</a:t>
            </a:r>
            <a:r>
              <a:rPr sz="1400" dirty="0"/>
              <a:t> </a:t>
            </a:r>
            <a:r>
              <a:rPr sz="1400" dirty="0" err="1"/>
              <a:t>Routenberechnung</a:t>
            </a:r>
            <a:r>
              <a:rPr sz="1400" dirty="0"/>
              <a:t> via TomTom Routing API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Automatische</a:t>
            </a:r>
            <a:r>
              <a:rPr sz="1400" dirty="0"/>
              <a:t> Fair-Price </a:t>
            </a:r>
            <a:r>
              <a:rPr sz="1400" dirty="0" err="1"/>
              <a:t>Preisberechnung</a:t>
            </a:r>
            <a:r>
              <a:rPr sz="1400" dirty="0"/>
              <a:t> pro Kilometer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Sichere</a:t>
            </a:r>
            <a:r>
              <a:rPr sz="1400" dirty="0"/>
              <a:t> </a:t>
            </a:r>
            <a:r>
              <a:rPr sz="1400" dirty="0" err="1"/>
              <a:t>Authentifizierung</a:t>
            </a:r>
            <a:r>
              <a:rPr sz="1400" dirty="0"/>
              <a:t> &amp; </a:t>
            </a:r>
            <a:r>
              <a:rPr sz="1400" dirty="0" err="1"/>
              <a:t>integriertes</a:t>
            </a:r>
            <a:r>
              <a:rPr sz="1400" dirty="0"/>
              <a:t> </a:t>
            </a:r>
            <a:r>
              <a:rPr sz="1400" dirty="0" err="1"/>
              <a:t>Bewertungssystem</a:t>
            </a:r>
            <a:endParaRPr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8076895" y="164592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ctr">
              <a:spcAft>
                <a:spcPts val="1200"/>
              </a:spcAft>
              <a:defRPr sz="2000" b="1">
                <a:solidFill>
                  <a:srgbClr val="059669"/>
                </a:solidFill>
                <a:latin typeface="Georgia"/>
              </a:defRPr>
            </a:pPr>
            <a:r>
              <a:rPr dirty="0" err="1"/>
              <a:t>Warum</a:t>
            </a:r>
            <a:r>
              <a:rPr dirty="0"/>
              <a:t> Flutter?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dirty="0"/>
              <a:t>• </a:t>
            </a:r>
            <a:r>
              <a:rPr sz="1400" dirty="0"/>
              <a:t>Eine </a:t>
            </a:r>
            <a:r>
              <a:rPr sz="1400" dirty="0" err="1"/>
              <a:t>einheitliche</a:t>
            </a:r>
            <a:r>
              <a:rPr sz="1400" dirty="0"/>
              <a:t> Dart-Codebase für iOS, Android und Web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Hohe Performance dank </a:t>
            </a:r>
            <a:r>
              <a:rPr sz="1400" dirty="0" err="1"/>
              <a:t>kompiliertem</a:t>
            </a:r>
            <a:r>
              <a:rPr sz="1400" dirty="0"/>
              <a:t> </a:t>
            </a:r>
            <a:r>
              <a:rPr sz="1400" dirty="0" err="1"/>
              <a:t>nativen</a:t>
            </a:r>
            <a:r>
              <a:rPr sz="1400" dirty="0"/>
              <a:t> Code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Schnelle UI-</a:t>
            </a:r>
            <a:r>
              <a:rPr sz="1400" dirty="0" err="1"/>
              <a:t>Entwicklung</a:t>
            </a:r>
            <a:r>
              <a:rPr sz="1400" dirty="0"/>
              <a:t> </a:t>
            </a:r>
            <a:r>
              <a:rPr sz="1400" dirty="0" err="1"/>
              <a:t>durch</a:t>
            </a:r>
            <a:r>
              <a:rPr sz="1400" dirty="0"/>
              <a:t> Hot Reload &amp; Widget-</a:t>
            </a:r>
            <a:r>
              <a:rPr sz="1400" dirty="0" err="1"/>
              <a:t>Architektur</a:t>
            </a:r>
            <a:endParaRPr sz="1400" dirty="0"/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dirty="0" err="1"/>
              <a:t>Zukunftssicheres</a:t>
            </a:r>
            <a:r>
              <a:rPr sz="1400" dirty="0"/>
              <a:t> Cross-Platform Framework von Google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4F5D7A8-B618-D635-0D55-716539C6FADD}"/>
              </a:ext>
            </a:extLst>
          </p:cNvPr>
          <p:cNvSpPr txBox="1"/>
          <p:nvPr/>
        </p:nvSpPr>
        <p:spPr>
          <a:xfrm>
            <a:off x="865239" y="408245"/>
            <a:ext cx="59190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>
                <a:solidFill>
                  <a:srgbClr val="2563EB"/>
                </a:solidFill>
                <a:latin typeface="Arial"/>
              </a:rPr>
              <a:t>KICK-OFF PRÄSENTATION | HTL DIPLOMARBEIT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B6F7EA3-1B5C-ED1B-61E0-015C743783A7}"/>
              </a:ext>
            </a:extLst>
          </p:cNvPr>
          <p:cNvSpPr txBox="1"/>
          <p:nvPr/>
        </p:nvSpPr>
        <p:spPr>
          <a:xfrm>
            <a:off x="668592" y="206477"/>
            <a:ext cx="7305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>
                <a:solidFill>
                  <a:srgbClr val="2563EB"/>
                </a:solidFill>
                <a:latin typeface="Arial"/>
              </a:rPr>
              <a:t>KICK-OFF PRÄSENTATION | HTL DIPLOMARBEIT</a:t>
            </a:r>
          </a:p>
          <a:p>
            <a:endParaRPr lang="de-AT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2F00058-1A33-94FE-D845-A50AC3213A5C}"/>
              </a:ext>
            </a:extLst>
          </p:cNvPr>
          <p:cNvSpPr txBox="1"/>
          <p:nvPr/>
        </p:nvSpPr>
        <p:spPr>
          <a:xfrm>
            <a:off x="599768" y="378749"/>
            <a:ext cx="7108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>
                <a:solidFill>
                  <a:srgbClr val="2563EB"/>
                </a:solidFill>
                <a:latin typeface="Arial"/>
              </a:rPr>
              <a:t>KICK-OFF PRÄSENTATION | HTL DIPLOMARBEIT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7553CB6-E0D4-FD66-CA71-E74E751AA2DE}"/>
              </a:ext>
            </a:extLst>
          </p:cNvPr>
          <p:cNvSpPr txBox="1"/>
          <p:nvPr/>
        </p:nvSpPr>
        <p:spPr>
          <a:xfrm>
            <a:off x="629265" y="157315"/>
            <a:ext cx="6528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>
                <a:solidFill>
                  <a:srgbClr val="2563EB"/>
                </a:solidFill>
                <a:latin typeface="Arial"/>
              </a:rPr>
              <a:t>KICK-OFF PRÄSENTATION | HTL DIPLOMARBEIT</a:t>
            </a:r>
          </a:p>
          <a:p>
            <a:endParaRPr lang="de-AT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rPr dirty="0"/>
              <a:t>KICK-OFF PRÄSENTATION | HTL DIPLOMARBEIT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77108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dirty="0"/>
              <a:t>Frontend – Martin Miniböck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827" y="1645920"/>
            <a:ext cx="52120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59669"/>
                </a:solidFill>
                <a:latin typeface="Georgia"/>
              </a:defRPr>
            </a:pPr>
            <a:r>
              <a:rPr dirty="0"/>
              <a:t>Was </a:t>
            </a:r>
            <a:r>
              <a:rPr dirty="0" err="1"/>
              <a:t>wurde</a:t>
            </a:r>
            <a:r>
              <a:rPr dirty="0"/>
              <a:t> </a:t>
            </a:r>
            <a:r>
              <a:rPr dirty="0" err="1"/>
              <a:t>bereits</a:t>
            </a:r>
            <a:r>
              <a:rPr dirty="0"/>
              <a:t> </a:t>
            </a:r>
            <a:r>
              <a:rPr dirty="0" err="1"/>
              <a:t>gemacht</a:t>
            </a:r>
            <a:r>
              <a:rPr dirty="0"/>
              <a:t>? (Status Quo)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Vollständiges</a:t>
            </a:r>
            <a:r>
              <a:rPr sz="1400" dirty="0"/>
              <a:t> UI/UX-</a:t>
            </a:r>
            <a:r>
              <a:rPr sz="1400" dirty="0" err="1"/>
              <a:t>Designkonzept</a:t>
            </a:r>
            <a:r>
              <a:rPr sz="1400" dirty="0"/>
              <a:t> &amp; </a:t>
            </a:r>
            <a:r>
              <a:rPr sz="1400" dirty="0" err="1"/>
              <a:t>Finalisierung</a:t>
            </a:r>
            <a:r>
              <a:rPr sz="1400" dirty="0"/>
              <a:t> </a:t>
            </a:r>
            <a:r>
              <a:rPr sz="1400" dirty="0" err="1"/>
              <a:t>aller</a:t>
            </a:r>
            <a:r>
              <a:rPr sz="1400" dirty="0"/>
              <a:t> Screen-Layouts (Mockups)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Initialisierung</a:t>
            </a:r>
            <a:r>
              <a:rPr sz="1400" dirty="0"/>
              <a:t> &amp; </a:t>
            </a:r>
            <a:r>
              <a:rPr sz="1400" dirty="0" err="1"/>
              <a:t>saubere</a:t>
            </a:r>
            <a:r>
              <a:rPr sz="1400" dirty="0"/>
              <a:t> Modul-</a:t>
            </a:r>
            <a:r>
              <a:rPr sz="1400" dirty="0" err="1"/>
              <a:t>Strukturierung</a:t>
            </a:r>
            <a:r>
              <a:rPr sz="1400" dirty="0"/>
              <a:t> des Flutter-</a:t>
            </a:r>
            <a:r>
              <a:rPr sz="1400" dirty="0" err="1"/>
              <a:t>Basisprojekts</a:t>
            </a:r>
            <a:endParaRPr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6248094" y="1645920"/>
            <a:ext cx="5334305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  <a:latin typeface="Georgia"/>
              </a:defRPr>
            </a:pPr>
            <a:r>
              <a:rPr dirty="0"/>
              <a:t>Was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noch</a:t>
            </a:r>
            <a:r>
              <a:rPr dirty="0"/>
              <a:t> </a:t>
            </a:r>
            <a:r>
              <a:rPr dirty="0" err="1"/>
              <a:t>gemacht</a:t>
            </a:r>
            <a:r>
              <a:rPr dirty="0"/>
              <a:t>? (</a:t>
            </a:r>
            <a:r>
              <a:rPr dirty="0" err="1"/>
              <a:t>Nächste</a:t>
            </a:r>
            <a:r>
              <a:rPr dirty="0"/>
              <a:t> </a:t>
            </a:r>
            <a:r>
              <a:rPr dirty="0" err="1"/>
              <a:t>Schritte</a:t>
            </a:r>
            <a:r>
              <a:rPr dirty="0"/>
              <a:t>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➔ </a:t>
            </a:r>
            <a:r>
              <a:rPr sz="1400" dirty="0" err="1"/>
              <a:t>Umsetzung</a:t>
            </a:r>
            <a:r>
              <a:rPr sz="1400" dirty="0"/>
              <a:t> der Screens in </a:t>
            </a:r>
            <a:r>
              <a:rPr sz="1400" dirty="0" err="1"/>
              <a:t>reaktiven</a:t>
            </a:r>
            <a:r>
              <a:rPr sz="1400" dirty="0"/>
              <a:t> Flutter-Code &amp; Custom Widgets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➔ </a:t>
            </a:r>
            <a:r>
              <a:rPr sz="1400" dirty="0" err="1"/>
              <a:t>Anbindung</a:t>
            </a:r>
            <a:r>
              <a:rPr sz="1400" dirty="0"/>
              <a:t> des State-Managements an Cloud </a:t>
            </a:r>
            <a:r>
              <a:rPr sz="1400" dirty="0" err="1"/>
              <a:t>Firestore</a:t>
            </a:r>
            <a:r>
              <a:rPr sz="1400" dirty="0"/>
              <a:t> Realtime Streams</a:t>
            </a:r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➔ </a:t>
            </a:r>
            <a:r>
              <a:rPr sz="1400" dirty="0" err="1"/>
              <a:t>Clientseitige</a:t>
            </a:r>
            <a:r>
              <a:rPr sz="1400" dirty="0"/>
              <a:t> </a:t>
            </a:r>
            <a:r>
              <a:rPr sz="1400" dirty="0" err="1"/>
              <a:t>Formularvalidierung</a:t>
            </a:r>
            <a:r>
              <a:rPr sz="1400" dirty="0"/>
              <a:t> &amp; </a:t>
            </a:r>
            <a:r>
              <a:rPr sz="1400" dirty="0" err="1"/>
              <a:t>Fehlerbehandlung</a:t>
            </a:r>
            <a:endParaRPr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728655" cy="154981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rPr sz="2000" dirty="0" err="1"/>
              <a:t>Eingesetzte</a:t>
            </a:r>
            <a:r>
              <a:rPr sz="2000" dirty="0"/>
              <a:t> </a:t>
            </a:r>
            <a:r>
              <a:rPr sz="2000" dirty="0" err="1"/>
              <a:t>Technologien</a:t>
            </a:r>
            <a:endParaRPr sz="2000" dirty="0"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</a:t>
            </a:r>
            <a:r>
              <a:rPr sz="1600" dirty="0" err="1"/>
              <a:t>Technologien</a:t>
            </a:r>
            <a:r>
              <a:rPr sz="1600" dirty="0"/>
              <a:t>: Flutter (Dart), TomTom Navigation SDK, Custom UI Widgets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D8D261-E50D-CBC6-23F5-DCFBA8168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FFDB9-8681-02E5-7A1A-8C816A4BF4E0}"/>
              </a:ext>
            </a:extLst>
          </p:cNvPr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rPr dirty="0"/>
              <a:t>KICK-OFF PRÄSENTATION | HTL DIPLOMARBEIT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7E723-B533-4ABD-B3F8-090AE2FB6EF7}"/>
              </a:ext>
            </a:extLst>
          </p:cNvPr>
          <p:cNvSpPr txBox="1"/>
          <p:nvPr/>
        </p:nvSpPr>
        <p:spPr>
          <a:xfrm>
            <a:off x="731520" y="640080"/>
            <a:ext cx="10698480" cy="677108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de-AT" dirty="0"/>
              <a:t>Zeitaufwand </a:t>
            </a:r>
            <a:r>
              <a:rPr dirty="0"/>
              <a:t>– Martin Miniböck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4123AB-2C9F-642E-50B0-1FFECB245251}"/>
              </a:ext>
            </a:extLst>
          </p:cNvPr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58379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9E848F4-D729-C6CC-9ACF-7D4AA7D10068}"/>
              </a:ext>
            </a:extLst>
          </p:cNvPr>
          <p:cNvSpPr txBox="1"/>
          <p:nvPr/>
        </p:nvSpPr>
        <p:spPr>
          <a:xfrm>
            <a:off x="688258" y="349252"/>
            <a:ext cx="5004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000" b="1" dirty="0">
                <a:solidFill>
                  <a:srgbClr val="2563EB"/>
                </a:solidFill>
                <a:latin typeface="Arial"/>
              </a:rPr>
              <a:t>KICK-OFF PRÄSENTATION | HTL DIPLOMARBEIT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rPr dirty="0"/>
              <a:t>KICK-OFF PRÄSENTATION | HTL DIPLOMARBEIT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77108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dirty="0"/>
              <a:t>Backend &amp; Cloud Infrastructure – Sascha Berger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19"/>
            <a:ext cx="5212080" cy="2365641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59669"/>
                </a:solidFill>
                <a:latin typeface="Georgia"/>
              </a:defRPr>
            </a:pPr>
            <a:r>
              <a:rPr dirty="0"/>
              <a:t>Was </a:t>
            </a:r>
            <a:r>
              <a:rPr dirty="0" err="1"/>
              <a:t>wurde</a:t>
            </a:r>
            <a:r>
              <a:rPr dirty="0"/>
              <a:t> </a:t>
            </a:r>
            <a:r>
              <a:rPr dirty="0" err="1"/>
              <a:t>bereits</a:t>
            </a:r>
            <a:r>
              <a:rPr dirty="0"/>
              <a:t> </a:t>
            </a:r>
            <a:r>
              <a:rPr dirty="0" err="1"/>
              <a:t>gemacht</a:t>
            </a:r>
            <a:r>
              <a:rPr dirty="0"/>
              <a:t>? (Status Quo)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✔ Projekt-Setup &amp; </a:t>
            </a:r>
            <a:r>
              <a:rPr sz="1400" dirty="0" err="1"/>
              <a:t>Vollständige</a:t>
            </a:r>
            <a:r>
              <a:rPr sz="1400" dirty="0"/>
              <a:t> </a:t>
            </a:r>
            <a:r>
              <a:rPr sz="1400" dirty="0" err="1"/>
              <a:t>Initialisierung</a:t>
            </a:r>
            <a:r>
              <a:rPr sz="1400" dirty="0"/>
              <a:t> der Firebase-</a:t>
            </a:r>
            <a:r>
              <a:rPr sz="1400" dirty="0" err="1"/>
              <a:t>Projektumgebung</a:t>
            </a:r>
            <a:endParaRPr sz="1400" dirty="0"/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✔ </a:t>
            </a:r>
            <a:r>
              <a:rPr sz="1400" dirty="0" err="1"/>
              <a:t>Entwurf</a:t>
            </a:r>
            <a:r>
              <a:rPr sz="1400" dirty="0"/>
              <a:t> des NoSQL-</a:t>
            </a:r>
            <a:r>
              <a:rPr sz="1400" dirty="0" err="1"/>
              <a:t>Datenbankschemas</a:t>
            </a:r>
            <a:r>
              <a:rPr sz="1400" dirty="0"/>
              <a:t> (</a:t>
            </a:r>
            <a:r>
              <a:rPr sz="1400" dirty="0" err="1"/>
              <a:t>Firestore</a:t>
            </a:r>
            <a:r>
              <a:rPr sz="1400" dirty="0"/>
              <a:t>) &amp; </a:t>
            </a:r>
            <a:r>
              <a:rPr sz="1400" dirty="0" err="1"/>
              <a:t>initiales</a:t>
            </a:r>
            <a:r>
              <a:rPr sz="1400" dirty="0"/>
              <a:t> </a:t>
            </a:r>
            <a:r>
              <a:rPr sz="1400" dirty="0" err="1"/>
              <a:t>Sicherheitskonzept</a:t>
            </a:r>
            <a:endParaRPr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6248095" y="1645920"/>
            <a:ext cx="5212080" cy="23656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  <a:latin typeface="Georgia"/>
              </a:defRPr>
            </a:pPr>
            <a:r>
              <a:rPr dirty="0"/>
              <a:t>Was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noch</a:t>
            </a:r>
            <a:r>
              <a:rPr dirty="0"/>
              <a:t> </a:t>
            </a:r>
            <a:r>
              <a:rPr dirty="0" err="1"/>
              <a:t>gemacht</a:t>
            </a:r>
            <a:r>
              <a:rPr dirty="0"/>
              <a:t>? (</a:t>
            </a:r>
            <a:r>
              <a:rPr dirty="0" err="1"/>
              <a:t>Nächste</a:t>
            </a:r>
            <a:r>
              <a:rPr dirty="0"/>
              <a:t> </a:t>
            </a:r>
            <a:r>
              <a:rPr dirty="0" err="1"/>
              <a:t>Schritte</a:t>
            </a:r>
            <a:r>
              <a:rPr lang="de-AT" dirty="0"/>
              <a:t>)</a:t>
            </a:r>
            <a:endParaRPr lang="de-DE" dirty="0"/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lang="de-DE" sz="1400" dirty="0"/>
              <a:t>➔ </a:t>
            </a:r>
            <a:r>
              <a:rPr lang="de-DE" sz="1400" dirty="0" err="1"/>
              <a:t>Prototyping</a:t>
            </a:r>
            <a:r>
              <a:rPr lang="de-DE" sz="1400" dirty="0"/>
              <a:t> &amp; Entwicklung der Cloud </a:t>
            </a:r>
            <a:r>
              <a:rPr lang="de-DE" sz="1400" dirty="0" err="1"/>
              <a:t>Functions</a:t>
            </a:r>
            <a:r>
              <a:rPr lang="de-DE" sz="1400" dirty="0"/>
              <a:t> für automatisierte Preiskalkulation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➔ </a:t>
            </a:r>
            <a:r>
              <a:rPr sz="1400" dirty="0" err="1"/>
              <a:t>Feinabstimmung</a:t>
            </a:r>
            <a:r>
              <a:rPr sz="1400" dirty="0"/>
              <a:t> &amp; Testing der </a:t>
            </a:r>
            <a:r>
              <a:rPr sz="1400" dirty="0" err="1"/>
              <a:t>Firestore</a:t>
            </a:r>
            <a:r>
              <a:rPr sz="1400" dirty="0"/>
              <a:t> Security Rules </a:t>
            </a:r>
            <a:r>
              <a:rPr sz="1400" dirty="0" err="1"/>
              <a:t>gegen</a:t>
            </a:r>
            <a:r>
              <a:rPr sz="1400" dirty="0"/>
              <a:t> </a:t>
            </a:r>
            <a:r>
              <a:rPr sz="1400" dirty="0" err="1"/>
              <a:t>unbefugte</a:t>
            </a:r>
            <a:r>
              <a:rPr sz="1400" dirty="0"/>
              <a:t> </a:t>
            </a:r>
            <a:r>
              <a:rPr sz="1400" dirty="0" err="1"/>
              <a:t>Zugriffe</a:t>
            </a:r>
            <a:endParaRPr sz="1400" dirty="0"/>
          </a:p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➔ </a:t>
            </a:r>
            <a:r>
              <a:rPr sz="1400" dirty="0" err="1"/>
              <a:t>Schnittstellen</a:t>
            </a:r>
            <a:r>
              <a:rPr sz="1400" dirty="0"/>
              <a:t>-Integration der TomTom Routing API </a:t>
            </a:r>
            <a:r>
              <a:rPr sz="1400" dirty="0" err="1"/>
              <a:t>im</a:t>
            </a:r>
            <a:r>
              <a:rPr sz="1400" dirty="0"/>
              <a:t> Serverless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1345" y="4187190"/>
            <a:ext cx="10728655" cy="1419041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rPr sz="2000" dirty="0" err="1"/>
              <a:t>Eingesetzte</a:t>
            </a:r>
            <a:r>
              <a:rPr sz="2000" dirty="0"/>
              <a:t> </a:t>
            </a:r>
            <a:r>
              <a:rPr sz="2000" dirty="0" err="1"/>
              <a:t>Technologien</a:t>
            </a:r>
            <a:endParaRPr sz="2000" dirty="0"/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Arial"/>
              </a:defRPr>
            </a:pPr>
            <a:r>
              <a:rPr sz="1600" u="sng" dirty="0" err="1"/>
              <a:t>Technologien</a:t>
            </a:r>
            <a:r>
              <a:rPr sz="1600" u="sng" dirty="0"/>
              <a:t>:</a:t>
            </a:r>
            <a:r>
              <a:rPr sz="1600" dirty="0"/>
              <a:t> Google Firebase (</a:t>
            </a:r>
            <a:r>
              <a:rPr sz="1600" dirty="0" err="1"/>
              <a:t>Firestore</a:t>
            </a:r>
            <a:r>
              <a:rPr sz="1600" dirty="0"/>
              <a:t> NoSQL, Auth, Cloud Functions), Node.js, TomTom Routing API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C96B1-6CE3-A5F4-39C7-31F8B3FED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FA3477-D12D-22D7-83FE-301829127FE5}"/>
              </a:ext>
            </a:extLst>
          </p:cNvPr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KICK-OFF PRÄSENTATION | HTL DIPLOMARBEIT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789B2-5D0A-6505-0F61-65963639A78B}"/>
              </a:ext>
            </a:extLst>
          </p:cNvPr>
          <p:cNvSpPr txBox="1"/>
          <p:nvPr/>
        </p:nvSpPr>
        <p:spPr>
          <a:xfrm>
            <a:off x="731520" y="640080"/>
            <a:ext cx="10698480" cy="677108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de-AT" dirty="0"/>
              <a:t>Zeitaufwand </a:t>
            </a:r>
            <a:r>
              <a:rPr dirty="0"/>
              <a:t>– Sascha Berger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058794-FD62-F854-0B5B-E9998A3F372B}"/>
              </a:ext>
            </a:extLst>
          </p:cNvPr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B1A3DDE-51F6-70A1-6DAC-4FC563DC89E4}"/>
              </a:ext>
            </a:extLst>
          </p:cNvPr>
          <p:cNvSpPr txBox="1"/>
          <p:nvPr/>
        </p:nvSpPr>
        <p:spPr>
          <a:xfrm>
            <a:off x="731520" y="3299552"/>
            <a:ext cx="29064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dirty="0">
                <a:latin typeface="Arial" panose="020B0604020202020204" pitchFamily="34" charset="0"/>
                <a:cs typeface="Arial" panose="020B0604020202020204" pitchFamily="34" charset="0"/>
              </a:rPr>
              <a:t>Schule: 22,88h</a:t>
            </a:r>
          </a:p>
          <a:p>
            <a:r>
              <a:rPr lang="de-AT" sz="2400" dirty="0">
                <a:latin typeface="Arial" panose="020B0604020202020204" pitchFamily="34" charset="0"/>
                <a:cs typeface="Arial" panose="020B0604020202020204" pitchFamily="34" charset="0"/>
              </a:rPr>
              <a:t>Freizeit: 10,87h</a:t>
            </a:r>
          </a:p>
          <a:p>
            <a:r>
              <a:rPr lang="de-AT" sz="2400" b="1" dirty="0">
                <a:latin typeface="Arial" panose="020B0604020202020204" pitchFamily="34" charset="0"/>
                <a:cs typeface="Arial" panose="020B0604020202020204" pitchFamily="34" charset="0"/>
              </a:rPr>
              <a:t>Gesamt: 33,75h</a:t>
            </a:r>
            <a:endParaRPr lang="de-A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Chart 1">
            <a:extLst>
              <a:ext uri="{FF2B5EF4-FFF2-40B4-BE49-F238E27FC236}">
                <a16:creationId xmlns:a16="http://schemas.microsoft.com/office/drawing/2014/main" id="{00000000-0008-0000-0200-00009F09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9270750"/>
              </p:ext>
            </p:extLst>
          </p:nvPr>
        </p:nvGraphicFramePr>
        <p:xfrm>
          <a:off x="3962803" y="1814720"/>
          <a:ext cx="7255399" cy="440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58324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0AD642-D233-83B8-D044-9D6205A1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0C50DC-3CAE-6979-A9EF-BC7BE5E30996}"/>
              </a:ext>
            </a:extLst>
          </p:cNvPr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KICK-OFF PRÄSENTATION | HTL DIPLOMARBEIT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416E3-CA07-1D6F-6670-61E17B130E7A}"/>
              </a:ext>
            </a:extLst>
          </p:cNvPr>
          <p:cNvSpPr txBox="1"/>
          <p:nvPr/>
        </p:nvSpPr>
        <p:spPr>
          <a:xfrm>
            <a:off x="731520" y="640080"/>
            <a:ext cx="10698480" cy="677108"/>
          </a:xfrm>
          <a:prstGeom prst="rect">
            <a:avLst/>
          </a:prstGeom>
          <a:noFill/>
        </p:spPr>
        <p:txBody>
          <a:bodyPr wrap="square" lIns="0" tIns="0" rIns="274320" bIns="274320" anchor="t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rPr lang="de-AT" dirty="0"/>
              <a:t>Vielen Dank für Ihre Aufmerksamkeit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7AF14D-E858-0145-9760-1B2B58DF4A01}"/>
              </a:ext>
            </a:extLst>
          </p:cNvPr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B4EB459-1ED8-BFEB-A566-7A144C149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853" y="1445062"/>
            <a:ext cx="5139813" cy="513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15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Microsoft Office PowerPoint</Application>
  <PresentationFormat>Breitbild</PresentationFormat>
  <Paragraphs>57</Paragraphs>
  <Slides>13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Sascha Berger</dc:creator>
  <cp:keywords/>
  <dc:description>generated using python-pptx</dc:description>
  <cp:lastModifiedBy>Sascha Berger</cp:lastModifiedBy>
  <cp:revision>9</cp:revision>
  <dcterms:created xsi:type="dcterms:W3CDTF">2013-01-27T09:14:16Z</dcterms:created>
  <dcterms:modified xsi:type="dcterms:W3CDTF">2026-09-24T10:07:16Z</dcterms:modified>
  <cp:category/>
</cp:coreProperties>
</file>